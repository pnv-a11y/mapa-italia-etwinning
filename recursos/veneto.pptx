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8" r:id="rId3"/>
    <p:sldId id="261" r:id="rId4"/>
    <p:sldId id="267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7119" autoAdjust="0"/>
  </p:normalViewPr>
  <p:slideViewPr>
    <p:cSldViewPr snapToGrid="0" snapToObjects="1">
      <p:cViewPr varScale="1">
        <p:scale>
          <a:sx n="85" d="100"/>
          <a:sy n="85" d="100"/>
        </p:scale>
        <p:origin x="2364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FC8FF3-B9B5-44B8-85BB-61B11DECB439}" type="datetimeFigureOut">
              <a:rPr lang="it-IT" smtClean="0"/>
              <a:t>21/03/2026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4C2821-B938-4CC4-B2ED-0C0D49E54E5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64374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4C2821-B938-4CC4-B2ED-0C0D49E54E56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4726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gi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3" Type="http://schemas.openxmlformats.org/officeDocument/2006/relationships/image" Target="../media/image9.jpeg"/><Relationship Id="rId7" Type="http://schemas.openxmlformats.org/officeDocument/2006/relationships/image" Target="../media/image13.jp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g"/><Relationship Id="rId5" Type="http://schemas.openxmlformats.org/officeDocument/2006/relationships/image" Target="../media/image11.jpg"/><Relationship Id="rId4" Type="http://schemas.openxmlformats.org/officeDocument/2006/relationships/image" Target="../media/image10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g"/><Relationship Id="rId4" Type="http://schemas.openxmlformats.org/officeDocument/2006/relationships/image" Target="../media/image17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g"/><Relationship Id="rId3" Type="http://schemas.openxmlformats.org/officeDocument/2006/relationships/image" Target="../media/image20.jpg"/><Relationship Id="rId7" Type="http://schemas.openxmlformats.org/officeDocument/2006/relationships/image" Target="../media/image24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g"/><Relationship Id="rId5" Type="http://schemas.openxmlformats.org/officeDocument/2006/relationships/image" Target="../media/image22.jpg"/><Relationship Id="rId4" Type="http://schemas.openxmlformats.org/officeDocument/2006/relationships/image" Target="../media/image21.jpg"/><Relationship Id="rId9" Type="http://schemas.openxmlformats.org/officeDocument/2006/relationships/image" Target="../media/image2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617184"/>
          </a:xfrm>
        </p:spPr>
        <p:txBody>
          <a:bodyPr>
            <a:normAutofit/>
          </a:bodyPr>
          <a:lstStyle/>
          <a:p>
            <a:r>
              <a:rPr sz="2800" dirty="0"/>
              <a:t>Il Veneto - </a:t>
            </a:r>
            <a:r>
              <a:rPr sz="2800" dirty="0" err="1"/>
              <a:t>Introduzione</a:t>
            </a:r>
            <a:endParaRPr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92200"/>
            <a:ext cx="4114800" cy="4574822"/>
          </a:xfrm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900"/>
            </a:pPr>
            <a:r>
              <a:rPr sz="1600" dirty="0" err="1"/>
              <a:t>Regione</a:t>
            </a:r>
            <a:r>
              <a:rPr sz="1600" dirty="0"/>
              <a:t> del Nord-Est Italia: </a:t>
            </a:r>
            <a:r>
              <a:rPr sz="1600" dirty="0" err="1"/>
              <a:t>si</a:t>
            </a:r>
            <a:r>
              <a:rPr sz="1600" dirty="0"/>
              <a:t> </a:t>
            </a:r>
            <a:r>
              <a:rPr sz="1600" dirty="0" err="1"/>
              <a:t>trova</a:t>
            </a:r>
            <a:r>
              <a:rPr sz="1600" dirty="0"/>
              <a:t> </a:t>
            </a:r>
            <a:r>
              <a:rPr sz="1600" dirty="0" err="1"/>
              <a:t>nella</a:t>
            </a:r>
            <a:r>
              <a:rPr sz="1600" dirty="0"/>
              <a:t> </a:t>
            </a:r>
            <a:r>
              <a:rPr sz="1600" dirty="0" err="1"/>
              <a:t>parte</a:t>
            </a:r>
            <a:r>
              <a:rPr sz="1600" dirty="0"/>
              <a:t> </a:t>
            </a:r>
            <a:r>
              <a:rPr sz="1600" dirty="0" err="1"/>
              <a:t>nord</a:t>
            </a:r>
            <a:r>
              <a:rPr sz="1600" dirty="0"/>
              <a:t>-orientale del </a:t>
            </a:r>
            <a:r>
              <a:rPr sz="1600" dirty="0" err="1"/>
              <a:t>Paese</a:t>
            </a:r>
            <a:r>
              <a:rPr sz="1600" dirty="0"/>
              <a:t>.</a:t>
            </a:r>
            <a:endParaRPr lang="it-IT" sz="1600" dirty="0"/>
          </a:p>
          <a:p>
            <a:pPr>
              <a:spcAft>
                <a:spcPts val="400"/>
              </a:spcAft>
              <a:defRPr sz="1900"/>
            </a:pPr>
            <a:r>
              <a:rPr lang="it-IT" sz="1600" dirty="0"/>
              <a:t>Confina con Lombardia, Trentino-Alto Adige, Friuli-Venezia Giulia ed Emilia-Romagna.</a:t>
            </a:r>
          </a:p>
          <a:p>
            <a:pPr>
              <a:spcAft>
                <a:spcPts val="400"/>
              </a:spcAft>
              <a:defRPr sz="1900"/>
            </a:pPr>
            <a:r>
              <a:rPr lang="it-IT" sz="1600" dirty="0"/>
              <a:t>Affacciato sul Mar Adriatico: ha una lunga costa e la laguna di Venezia.</a:t>
            </a:r>
          </a:p>
          <a:p>
            <a:pPr>
              <a:spcAft>
                <a:spcPts val="400"/>
              </a:spcAft>
              <a:defRPr sz="1900"/>
            </a:pPr>
            <a:r>
              <a:rPr lang="it-IT" sz="1600" dirty="0"/>
              <a:t>Posizione importante per commercio e viaggi: collega Italia ed Europa centrale.</a:t>
            </a:r>
          </a:p>
          <a:p>
            <a:pPr>
              <a:spcAft>
                <a:spcPts val="400"/>
              </a:spcAft>
              <a:defRPr sz="1900"/>
            </a:pPr>
            <a:r>
              <a:rPr sz="1600" dirty="0"/>
              <a:t>Circa 4,8 </a:t>
            </a:r>
            <a:r>
              <a:rPr sz="1600" dirty="0" err="1"/>
              <a:t>milioni</a:t>
            </a:r>
            <a:r>
              <a:rPr sz="1600" dirty="0"/>
              <a:t> di </a:t>
            </a:r>
            <a:r>
              <a:rPr sz="1600" dirty="0" err="1"/>
              <a:t>abitanti</a:t>
            </a:r>
            <a:r>
              <a:rPr sz="1600" dirty="0"/>
              <a:t>: è </a:t>
            </a:r>
            <a:r>
              <a:rPr sz="1600" dirty="0" err="1"/>
              <a:t>una</a:t>
            </a:r>
            <a:r>
              <a:rPr sz="1600" dirty="0"/>
              <a:t> </a:t>
            </a:r>
            <a:r>
              <a:rPr sz="1600" dirty="0" err="1"/>
              <a:t>delle</a:t>
            </a:r>
            <a:r>
              <a:rPr sz="1600" dirty="0"/>
              <a:t> </a:t>
            </a:r>
            <a:r>
              <a:rPr sz="1600" dirty="0" err="1"/>
              <a:t>regioni</a:t>
            </a:r>
            <a:r>
              <a:rPr sz="1600" dirty="0"/>
              <a:t> </a:t>
            </a:r>
            <a:r>
              <a:rPr sz="1600" dirty="0" err="1"/>
              <a:t>più</a:t>
            </a:r>
            <a:r>
              <a:rPr sz="1600" dirty="0"/>
              <a:t> </a:t>
            </a:r>
            <a:r>
              <a:rPr sz="1600" dirty="0" err="1"/>
              <a:t>popolose</a:t>
            </a:r>
            <a:r>
              <a:rPr sz="1600" dirty="0"/>
              <a:t> </a:t>
            </a:r>
            <a:r>
              <a:rPr sz="1600" dirty="0" err="1"/>
              <a:t>d’Italia</a:t>
            </a:r>
            <a:r>
              <a:rPr sz="1600" dirty="0"/>
              <a:t>.</a:t>
            </a:r>
          </a:p>
          <a:p>
            <a:pPr>
              <a:spcAft>
                <a:spcPts val="400"/>
              </a:spcAft>
              <a:defRPr sz="1900"/>
            </a:pPr>
            <a:r>
              <a:rPr sz="1600" dirty="0"/>
              <a:t>Cap</a:t>
            </a:r>
            <a:r>
              <a:rPr lang="it-IT" sz="1600" dirty="0" err="1"/>
              <a:t>oluogo</a:t>
            </a:r>
            <a:r>
              <a:rPr lang="it-IT" sz="1600" dirty="0"/>
              <a:t>:</a:t>
            </a:r>
            <a:r>
              <a:rPr sz="1600" dirty="0"/>
              <a:t> Venezia, </a:t>
            </a:r>
            <a:r>
              <a:rPr sz="1600" dirty="0" err="1"/>
              <a:t>città</a:t>
            </a:r>
            <a:r>
              <a:rPr sz="1600" dirty="0"/>
              <a:t> </a:t>
            </a:r>
            <a:r>
              <a:rPr sz="1600" dirty="0" err="1"/>
              <a:t>famosa</a:t>
            </a:r>
            <a:r>
              <a:rPr sz="1600" dirty="0"/>
              <a:t> per </a:t>
            </a:r>
            <a:r>
              <a:rPr sz="1600" dirty="0" err="1"/>
              <a:t>canali</a:t>
            </a:r>
            <a:r>
              <a:rPr sz="1600" dirty="0"/>
              <a:t>, </a:t>
            </a:r>
            <a:r>
              <a:rPr sz="1600" dirty="0" err="1"/>
              <a:t>ponti</a:t>
            </a:r>
            <a:r>
              <a:rPr sz="1600" dirty="0"/>
              <a:t> e palazzi </a:t>
            </a:r>
            <a:r>
              <a:rPr sz="1600" dirty="0" err="1"/>
              <a:t>storici</a:t>
            </a:r>
            <a:r>
              <a:rPr sz="1600" dirty="0"/>
              <a:t>.</a:t>
            </a:r>
          </a:p>
          <a:p>
            <a:pPr>
              <a:spcAft>
                <a:spcPts val="400"/>
              </a:spcAft>
              <a:defRPr sz="1900"/>
            </a:pPr>
            <a:r>
              <a:rPr sz="1600" dirty="0" err="1"/>
              <a:t>Famosa</a:t>
            </a:r>
            <a:r>
              <a:rPr sz="1600" dirty="0"/>
              <a:t> per turismo e </a:t>
            </a:r>
            <a:r>
              <a:rPr sz="1600" dirty="0" err="1"/>
              <a:t>industrie</a:t>
            </a:r>
            <a:r>
              <a:rPr sz="1600" dirty="0"/>
              <a:t>: </a:t>
            </a:r>
            <a:r>
              <a:rPr sz="1600" dirty="0" err="1"/>
              <a:t>unisce</a:t>
            </a:r>
            <a:r>
              <a:rPr sz="1600" dirty="0"/>
              <a:t> </a:t>
            </a:r>
            <a:r>
              <a:rPr sz="1600" dirty="0" err="1"/>
              <a:t>arte</a:t>
            </a:r>
            <a:r>
              <a:rPr sz="1600" dirty="0"/>
              <a:t>, </a:t>
            </a:r>
            <a:r>
              <a:rPr sz="1600" dirty="0" err="1"/>
              <a:t>lavoro</a:t>
            </a:r>
            <a:r>
              <a:rPr sz="1600" dirty="0"/>
              <a:t> e </a:t>
            </a:r>
            <a:r>
              <a:rPr sz="1600" dirty="0" err="1"/>
              <a:t>commercio</a:t>
            </a:r>
            <a:r>
              <a:rPr sz="1600" dirty="0"/>
              <a:t>.</a:t>
            </a:r>
            <a:endParaRPr lang="it-IT" sz="1600" dirty="0"/>
          </a:p>
        </p:txBody>
      </p:sp>
      <p:pic>
        <p:nvPicPr>
          <p:cNvPr id="5" name="Immagine 4" descr="Immagine che contiene poster, illustrazione, clipart, uccello&#10;&#10;Il contenuto generato dall'IA potrebbe non essere corretto.">
            <a:extLst>
              <a:ext uri="{FF2B5EF4-FFF2-40B4-BE49-F238E27FC236}">
                <a16:creationId xmlns:a16="http://schemas.microsoft.com/office/drawing/2014/main" id="{72A1CFCF-77FE-2089-FB85-3C1E206B4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1333" y="1179364"/>
            <a:ext cx="2385467" cy="2536148"/>
          </a:xfrm>
          <a:prstGeom prst="rect">
            <a:avLst/>
          </a:prstGeom>
        </p:spPr>
      </p:pic>
      <p:pic>
        <p:nvPicPr>
          <p:cNvPr id="7" name="Immagine 6" descr="Immagine che contiene mappa, testo, atlante&#10;&#10;Il contenuto generato dall'IA potrebbe non essere corretto.">
            <a:extLst>
              <a:ext uri="{FF2B5EF4-FFF2-40B4-BE49-F238E27FC236}">
                <a16:creationId xmlns:a16="http://schemas.microsoft.com/office/drawing/2014/main" id="{50E9CA2E-CE6B-74E7-E4DC-FCEF2F8581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819525"/>
            <a:ext cx="2781300" cy="2876550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A6A6405F-7741-7430-FF8D-C7A827116D07}"/>
              </a:ext>
            </a:extLst>
          </p:cNvPr>
          <p:cNvSpPr txBox="1"/>
          <p:nvPr/>
        </p:nvSpPr>
        <p:spPr>
          <a:xfrm>
            <a:off x="836752" y="6326743"/>
            <a:ext cx="1907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i="1" dirty="0"/>
              <a:t>Alessia Giudizioso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54704"/>
          </a:xfrm>
        </p:spPr>
        <p:txBody>
          <a:bodyPr>
            <a:normAutofit/>
          </a:bodyPr>
          <a:lstStyle/>
          <a:p>
            <a:r>
              <a:rPr sz="2800" dirty="0"/>
              <a:t>Città </a:t>
            </a:r>
            <a:r>
              <a:rPr sz="2800" dirty="0" err="1"/>
              <a:t>principali</a:t>
            </a:r>
            <a:endParaRPr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47391" y="3977807"/>
            <a:ext cx="2143379" cy="2605555"/>
          </a:xfrm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700"/>
            </a:pPr>
            <a:r>
              <a:rPr sz="1400" dirty="0"/>
              <a:t>Treviso: </a:t>
            </a:r>
            <a:r>
              <a:rPr sz="1400" dirty="0" err="1"/>
              <a:t>città</a:t>
            </a:r>
            <a:r>
              <a:rPr sz="1400" dirty="0"/>
              <a:t> elegante </a:t>
            </a:r>
            <a:r>
              <a:rPr sz="1400" dirty="0" err="1"/>
              <a:t>legata</a:t>
            </a:r>
            <a:r>
              <a:rPr sz="1400" dirty="0"/>
              <a:t> a </a:t>
            </a:r>
            <a:r>
              <a:rPr sz="1400" dirty="0" err="1"/>
              <a:t>imprese</a:t>
            </a:r>
            <a:r>
              <a:rPr sz="1400" dirty="0"/>
              <a:t>, </a:t>
            </a:r>
            <a:r>
              <a:rPr sz="1400" dirty="0" err="1"/>
              <a:t>moda</a:t>
            </a:r>
            <a:r>
              <a:rPr sz="1400" dirty="0"/>
              <a:t> e cucina</a:t>
            </a:r>
            <a:r>
              <a:rPr lang="it-IT" sz="1400" dirty="0"/>
              <a:t>, famosa per </a:t>
            </a:r>
            <a:r>
              <a:rPr lang="it-IT" sz="1400" b="1" i="0" dirty="0">
                <a:solidFill>
                  <a:srgbClr val="0A0A0A"/>
                </a:solidFill>
                <a:effectLst/>
                <a:latin typeface="Google Sans"/>
              </a:rPr>
              <a:t>Isola della Pescheria</a:t>
            </a:r>
            <a:r>
              <a:rPr lang="it-IT" sz="1400" b="0" i="0" dirty="0">
                <a:solidFill>
                  <a:srgbClr val="0A0A0A"/>
                </a:solidFill>
                <a:effectLst/>
                <a:latin typeface="Google Sans"/>
              </a:rPr>
              <a:t>: Un'isoletta fluviale creata nel XIX secolo per ospitare lo storico mercato del pesce, circondata dalle acque del </a:t>
            </a:r>
            <a:r>
              <a:rPr lang="it-IT" sz="1400" b="0" i="0" dirty="0" err="1">
                <a:solidFill>
                  <a:srgbClr val="0A0A0A"/>
                </a:solidFill>
                <a:effectLst/>
                <a:latin typeface="Google Sans"/>
              </a:rPr>
              <a:t>Cagnan</a:t>
            </a:r>
            <a:r>
              <a:rPr lang="it-IT" sz="1400" b="0" i="0" dirty="0">
                <a:solidFill>
                  <a:srgbClr val="0A0A0A"/>
                </a:solidFill>
                <a:effectLst/>
                <a:latin typeface="Google Sans"/>
              </a:rPr>
              <a:t>.</a:t>
            </a:r>
          </a:p>
        </p:txBody>
      </p:sp>
      <p:pic>
        <p:nvPicPr>
          <p:cNvPr id="5" name="Immagine 4" descr="Immagine che contiene edificio, aria aperta, cielo, luogo di culto&#10;&#10;Il contenuto generato dall'IA potrebbe non essere corretto.">
            <a:extLst>
              <a:ext uri="{FF2B5EF4-FFF2-40B4-BE49-F238E27FC236}">
                <a16:creationId xmlns:a16="http://schemas.microsoft.com/office/drawing/2014/main" id="{6C5318E8-EC23-5E7F-F800-652B78E17D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7831" y="5104043"/>
            <a:ext cx="2393440" cy="1538640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7" name="Immagine 6" descr="Immagine che contiene mercato, marketplace, edificio, cibo&#10;&#10;Il contenuto generato dall'IA potrebbe non essere corretto.">
            <a:extLst>
              <a:ext uri="{FF2B5EF4-FFF2-40B4-BE49-F238E27FC236}">
                <a16:creationId xmlns:a16="http://schemas.microsoft.com/office/drawing/2014/main" id="{DB61A50F-5BA5-AA5B-F1FE-E0CED830E0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3054" y="1991432"/>
            <a:ext cx="1830140" cy="1830140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9" name="Immagine 8" descr="Immagine che contiene barca, trasporto, natante, aria aperta&#10;&#10;Il contenuto generato dall'IA potrebbe non essere corretto.">
            <a:extLst>
              <a:ext uri="{FF2B5EF4-FFF2-40B4-BE49-F238E27FC236}">
                <a16:creationId xmlns:a16="http://schemas.microsoft.com/office/drawing/2014/main" id="{32CA318D-048D-2950-8D52-D472DED9D1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606" y="2036144"/>
            <a:ext cx="2676144" cy="1785428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11" name="Immagine 10" descr="Immagine che contiene edificio, cielo, aria aperta, Aerofotogrammetria&#10;&#10;Il contenuto generato dall'IA potrebbe non essere corretto.">
            <a:extLst>
              <a:ext uri="{FF2B5EF4-FFF2-40B4-BE49-F238E27FC236}">
                <a16:creationId xmlns:a16="http://schemas.microsoft.com/office/drawing/2014/main" id="{28AE78F3-EC01-68C1-0D51-732C47A674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7831" y="2036144"/>
            <a:ext cx="2678142" cy="1785428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13" name="Immagine 12" descr="Immagine che contiene edificio, aria aperta, cupola, luogo di interesse&#10;&#10;Il contenuto generato dall'IA potrebbe non essere corretto.">
            <a:extLst>
              <a:ext uri="{FF2B5EF4-FFF2-40B4-BE49-F238E27FC236}">
                <a16:creationId xmlns:a16="http://schemas.microsoft.com/office/drawing/2014/main" id="{CC7C8B56-A771-2B49-5B3C-02BCB2842C3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998" y="5104043"/>
            <a:ext cx="2735360" cy="1538640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AC11B9A3-3ECC-312F-73B9-C7DFBD2E413C}"/>
              </a:ext>
            </a:extLst>
          </p:cNvPr>
          <p:cNvSpPr txBox="1">
            <a:spLocks/>
          </p:cNvSpPr>
          <p:nvPr/>
        </p:nvSpPr>
        <p:spPr>
          <a:xfrm>
            <a:off x="274998" y="4372368"/>
            <a:ext cx="2705752" cy="70093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400"/>
              </a:spcAft>
              <a:defRPr sz="1700"/>
            </a:pPr>
            <a:r>
              <a:rPr lang="it-IT" sz="1400" dirty="0"/>
              <a:t>Vicenza: conosciuta per le opere del Palladio e per la lavorazione dell’oro.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A50DC483-D104-F9EB-A683-4DE52DC47E51}"/>
              </a:ext>
            </a:extLst>
          </p:cNvPr>
          <p:cNvSpPr txBox="1">
            <a:spLocks/>
          </p:cNvSpPr>
          <p:nvPr/>
        </p:nvSpPr>
        <p:spPr>
          <a:xfrm>
            <a:off x="3492269" y="4372368"/>
            <a:ext cx="2399002" cy="49262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400"/>
              </a:spcAft>
              <a:defRPr sz="1700"/>
            </a:pPr>
            <a:r>
              <a:rPr lang="it-IT" sz="1400" dirty="0"/>
              <a:t>Padova: nota per l’università storica e la Basilica di Sant’Antonio.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58BF3BA-4648-ECF5-667E-0E78A30E96C5}"/>
              </a:ext>
            </a:extLst>
          </p:cNvPr>
          <p:cNvSpPr txBox="1">
            <a:spLocks/>
          </p:cNvSpPr>
          <p:nvPr/>
        </p:nvSpPr>
        <p:spPr>
          <a:xfrm>
            <a:off x="3497832" y="1281440"/>
            <a:ext cx="2678141" cy="754704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400"/>
              </a:spcAft>
              <a:defRPr sz="1700"/>
            </a:pPr>
            <a:r>
              <a:rPr lang="it-IT" sz="1400" dirty="0"/>
              <a:t>Verona: famosa per l’Arena e per la storia di Romeo e Giulietta.</a:t>
            </a:r>
            <a:endParaRPr lang="it-IT" sz="1400" dirty="0">
              <a:solidFill>
                <a:srgbClr val="0A0A0A"/>
              </a:solidFill>
              <a:latin typeface="Google Sans"/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78A168F-BD68-F014-89D9-E118C7D2E1D5}"/>
              </a:ext>
            </a:extLst>
          </p:cNvPr>
          <p:cNvSpPr txBox="1">
            <a:spLocks/>
          </p:cNvSpPr>
          <p:nvPr/>
        </p:nvSpPr>
        <p:spPr>
          <a:xfrm>
            <a:off x="239980" y="1426597"/>
            <a:ext cx="2740769" cy="70093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Aft>
                <a:spcPts val="400"/>
              </a:spcAft>
              <a:defRPr sz="1700"/>
            </a:pPr>
            <a:r>
              <a:rPr lang="it-IT" sz="1400" dirty="0"/>
              <a:t>Venezia: capoluogo costruito su isole nella laguna.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75355" y="127987"/>
            <a:ext cx="4393292" cy="1289651"/>
          </a:xfrm>
        </p:spPr>
        <p:txBody>
          <a:bodyPr>
            <a:normAutofit/>
          </a:bodyPr>
          <a:lstStyle/>
          <a:p>
            <a:r>
              <a:rPr lang="it-IT" sz="2500" dirty="0"/>
              <a:t>Turismo: </a:t>
            </a:r>
            <a:br>
              <a:rPr lang="it-IT" sz="2500" dirty="0"/>
            </a:br>
            <a:r>
              <a:rPr lang="it-IT" sz="2500" dirty="0"/>
              <a:t>Monumenti e luoghi di interesse</a:t>
            </a:r>
            <a:endParaRPr sz="2500" dirty="0"/>
          </a:p>
        </p:txBody>
      </p:sp>
      <p:pic>
        <p:nvPicPr>
          <p:cNvPr id="5" name="Immagine 4" descr="Immagine che contiene aria aperta, cielo, edificio, vestiti&#10;&#10;Il contenuto generato dall'IA potrebbe non essere corretto.">
            <a:extLst>
              <a:ext uri="{FF2B5EF4-FFF2-40B4-BE49-F238E27FC236}">
                <a16:creationId xmlns:a16="http://schemas.microsoft.com/office/drawing/2014/main" id="{8D8A222C-F2BD-037C-3BC1-F259A785B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29" y="127987"/>
            <a:ext cx="2247526" cy="1400747"/>
          </a:xfrm>
          <a:prstGeom prst="rect">
            <a:avLst/>
          </a:prstGeom>
          <a:effectLst>
            <a:softEdge rad="127000"/>
          </a:effectLst>
        </p:spPr>
      </p:pic>
      <p:pic>
        <p:nvPicPr>
          <p:cNvPr id="7" name="Immagine 6" descr="Immagine che contiene aria aperta, cielo, natante, trasporto&#10;&#10;Il contenuto generato dall'IA potrebbe non essere corretto.">
            <a:extLst>
              <a:ext uri="{FF2B5EF4-FFF2-40B4-BE49-F238E27FC236}">
                <a16:creationId xmlns:a16="http://schemas.microsoft.com/office/drawing/2014/main" id="{B7B4BAE4-D15E-9EA1-1AEA-3DC07FA659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7086" y="2115685"/>
            <a:ext cx="1738561" cy="2318081"/>
          </a:xfrm>
          <a:prstGeom prst="rect">
            <a:avLst/>
          </a:prstGeom>
          <a:effectLst>
            <a:softEdge rad="127000"/>
          </a:effectLst>
        </p:spPr>
      </p:pic>
      <p:pic>
        <p:nvPicPr>
          <p:cNvPr id="9" name="Immagine 8" descr="Immagine che contiene cielo, edificio, nuvola, aria aperta&#10;&#10;Il contenuto generato dall'IA potrebbe non essere corretto.">
            <a:extLst>
              <a:ext uri="{FF2B5EF4-FFF2-40B4-BE49-F238E27FC236}">
                <a16:creationId xmlns:a16="http://schemas.microsoft.com/office/drawing/2014/main" id="{A9F50C37-95FB-BB2C-C791-ED7426A26A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8647" y="199452"/>
            <a:ext cx="2147255" cy="1400748"/>
          </a:xfrm>
          <a:prstGeom prst="rect">
            <a:avLst/>
          </a:prstGeom>
          <a:effectLst>
            <a:softEdge rad="127000"/>
          </a:effectLst>
        </p:spPr>
      </p:pic>
      <p:pic>
        <p:nvPicPr>
          <p:cNvPr id="11" name="Immagine 10" descr="Immagine che contiene aria aperta, cielo, acqua, edificio&#10;&#10;Il contenuto generato dall'IA potrebbe non essere corretto.">
            <a:extLst>
              <a:ext uri="{FF2B5EF4-FFF2-40B4-BE49-F238E27FC236}">
                <a16:creationId xmlns:a16="http://schemas.microsoft.com/office/drawing/2014/main" id="{4DFC6752-5A7E-2379-0421-F69C282CCB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839403"/>
            <a:ext cx="1883851" cy="1883851"/>
          </a:xfrm>
          <a:prstGeom prst="rect">
            <a:avLst/>
          </a:prstGeom>
          <a:effectLst>
            <a:softEdge rad="127000"/>
          </a:effectLst>
        </p:spPr>
      </p:pic>
      <p:pic>
        <p:nvPicPr>
          <p:cNvPr id="13" name="Immagine 12" descr="Immagine che contiene natura, montagna, aria aperta, cielo&#10;&#10;Il contenuto generato dall'IA potrebbe non essere corretto.">
            <a:extLst>
              <a:ext uri="{FF2B5EF4-FFF2-40B4-BE49-F238E27FC236}">
                <a16:creationId xmlns:a16="http://schemas.microsoft.com/office/drawing/2014/main" id="{64E4993D-11B0-064E-4721-F4F576B249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flipH="1">
            <a:off x="2889441" y="4124215"/>
            <a:ext cx="2011680" cy="1207830"/>
          </a:xfrm>
          <a:prstGeom prst="rect">
            <a:avLst/>
          </a:prstGeom>
          <a:effectLst>
            <a:softEdge rad="127000"/>
          </a:effectLst>
        </p:spPr>
      </p:pic>
      <p:pic>
        <p:nvPicPr>
          <p:cNvPr id="15" name="Immagine 14" descr="Immagine che contiene edificio, aria aperta, cielo, luogo di culto&#10;&#10;Il contenuto generato dall'IA potrebbe non essere corretto.">
            <a:extLst>
              <a:ext uri="{FF2B5EF4-FFF2-40B4-BE49-F238E27FC236}">
                <a16:creationId xmlns:a16="http://schemas.microsoft.com/office/drawing/2014/main" id="{B3E84C59-7FD6-545E-9F9F-1CDFA621088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H="1">
            <a:off x="2012492" y="5332045"/>
            <a:ext cx="2184603" cy="1448487"/>
          </a:xfrm>
          <a:prstGeom prst="rect">
            <a:avLst/>
          </a:prstGeom>
          <a:effectLst>
            <a:softEdge rad="127000"/>
          </a:effectLst>
        </p:spPr>
      </p:pic>
      <p:pic>
        <p:nvPicPr>
          <p:cNvPr id="17" name="Immagine 16" descr="Immagine che contiene aria aperta, cielo, edificio, Palazzo&#10;&#10;Il contenuto generato dall'IA potrebbe non essere corretto.">
            <a:extLst>
              <a:ext uri="{FF2B5EF4-FFF2-40B4-BE49-F238E27FC236}">
                <a16:creationId xmlns:a16="http://schemas.microsoft.com/office/drawing/2014/main" id="{D289BDFB-FD8E-AF13-F66C-F9A43FDA2A7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19502" y="5010912"/>
            <a:ext cx="4030058" cy="1769621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178126DF-528F-D203-B5FE-887D49CBBCCA}"/>
              </a:ext>
            </a:extLst>
          </p:cNvPr>
          <p:cNvSpPr txBox="1">
            <a:spLocks/>
          </p:cNvSpPr>
          <p:nvPr/>
        </p:nvSpPr>
        <p:spPr>
          <a:xfrm>
            <a:off x="676406" y="1715556"/>
            <a:ext cx="6845856" cy="2521313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+mj-lt"/>
              <a:buAutoNum type="arabicPeriod"/>
            </a:pPr>
            <a:r>
              <a:rPr lang="it-IT" sz="1600" dirty="0"/>
              <a:t>Venezia è visitata da tutto il mondo: è una delle città più celebri d’Italia. Famosa per il Carnevale di Venezia: festa conosciuta in tutto il mondo con maschere e costumi eleganti, si svolge ogni anno tra febbraio e marzo e richiama molti turisti. Le maschere servivano a nascondere l’identità delle persone. Piazza San Marco e Canal Grande: sono il cuore monumentale di Venezia.</a:t>
            </a:r>
          </a:p>
          <a:p>
            <a:pPr>
              <a:buFont typeface="+mj-lt"/>
              <a:buAutoNum type="arabicPeriod"/>
            </a:pPr>
            <a:r>
              <a:rPr lang="it-IT" sz="1600" dirty="0"/>
              <a:t>Gondole: imbarcazioni tradizionali usate per muoversi nei canali di Venezia; Oggi sono una grande attrazione turistica e simbolo della città</a:t>
            </a:r>
          </a:p>
          <a:p>
            <a:pPr>
              <a:spcAft>
                <a:spcPts val="400"/>
              </a:spcAft>
              <a:buFont typeface="+mj-lt"/>
              <a:buAutoNum type="arabicPeriod"/>
              <a:defRPr sz="1900"/>
            </a:pPr>
            <a:r>
              <a:rPr lang="it-IT" sz="1600" dirty="0"/>
              <a:t>Dolomiti: montagne patrimonio UNESCO, amate in estate e in inverno.</a:t>
            </a:r>
          </a:p>
          <a:p>
            <a:pPr>
              <a:spcAft>
                <a:spcPts val="400"/>
              </a:spcAft>
              <a:buFont typeface="+mj-lt"/>
              <a:buAutoNum type="arabicPeriod"/>
              <a:defRPr sz="1900"/>
            </a:pPr>
            <a:r>
              <a:rPr lang="it-IT" sz="1600" dirty="0"/>
              <a:t>Lago di Garda: meta di vacanza per sport, relax e bellissimi panorami.</a:t>
            </a:r>
          </a:p>
          <a:p>
            <a:pPr>
              <a:spcAft>
                <a:spcPts val="400"/>
              </a:spcAft>
              <a:buFont typeface="+mj-lt"/>
              <a:buAutoNum type="arabicPeriod"/>
              <a:defRPr sz="1900"/>
            </a:pPr>
            <a:r>
              <a:rPr lang="it-IT" sz="1600" dirty="0"/>
              <a:t>Città d’arte: Verona Padova e Vicenza conservano monumenti importanti.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03387"/>
          </a:xfrm>
        </p:spPr>
        <p:txBody>
          <a:bodyPr>
            <a:normAutofit/>
          </a:bodyPr>
          <a:lstStyle/>
          <a:p>
            <a:r>
              <a:rPr sz="2800" dirty="0"/>
              <a:t>Donne da </a:t>
            </a:r>
            <a:r>
              <a:rPr sz="2800" dirty="0" err="1"/>
              <a:t>ricordare</a:t>
            </a:r>
            <a:endParaRPr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48678" y="1609020"/>
            <a:ext cx="2199187" cy="1699658"/>
          </a:xfrm>
        </p:spPr>
        <p:txBody>
          <a:bodyPr wrap="square">
            <a:normAutofit/>
          </a:bodyPr>
          <a:lstStyle/>
          <a:p>
            <a:pPr marL="0" indent="0">
              <a:spcAft>
                <a:spcPts val="400"/>
              </a:spcAft>
              <a:buNone/>
              <a:defRPr sz="1900"/>
            </a:pPr>
            <a:r>
              <a:rPr sz="1600" dirty="0"/>
              <a:t>Caterina Cornaro (1454–1510): </a:t>
            </a:r>
            <a:r>
              <a:rPr sz="1600" dirty="0" err="1"/>
              <a:t>nobildonna</a:t>
            </a:r>
            <a:r>
              <a:rPr sz="1600" dirty="0"/>
              <a:t> </a:t>
            </a:r>
            <a:r>
              <a:rPr sz="1600" dirty="0" err="1"/>
              <a:t>veneziana</a:t>
            </a:r>
            <a:r>
              <a:rPr sz="1600" dirty="0"/>
              <a:t> </a:t>
            </a:r>
            <a:r>
              <a:rPr sz="1600" dirty="0" err="1"/>
              <a:t>che</a:t>
            </a:r>
            <a:r>
              <a:rPr sz="1600" dirty="0"/>
              <a:t> </a:t>
            </a:r>
            <a:r>
              <a:rPr sz="1600" dirty="0" err="1"/>
              <a:t>diventò</a:t>
            </a:r>
            <a:r>
              <a:rPr sz="1600" dirty="0"/>
              <a:t> regina di Cipro.</a:t>
            </a:r>
          </a:p>
        </p:txBody>
      </p:sp>
      <p:pic>
        <p:nvPicPr>
          <p:cNvPr id="5" name="Immagine 4" descr="Immagine che contiene testo, dipinto, Viso umano, Accessorio di moda&#10;&#10;Il contenuto generato dall'IA potrebbe non essere corretto.">
            <a:extLst>
              <a:ext uri="{FF2B5EF4-FFF2-40B4-BE49-F238E27FC236}">
                <a16:creationId xmlns:a16="http://schemas.microsoft.com/office/drawing/2014/main" id="{D2BDA45C-AA8B-5AB3-0DF8-76072C8048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304132"/>
            <a:ext cx="1454195" cy="2080736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7" name="Immagine 6" descr="Immagine che contiene Viso umano, vestiti, dipinto, arte&#10;&#10;Il contenuto generato dall'IA potrebbe non essere corretto.">
            <a:extLst>
              <a:ext uri="{FF2B5EF4-FFF2-40B4-BE49-F238E27FC236}">
                <a16:creationId xmlns:a16="http://schemas.microsoft.com/office/drawing/2014/main" id="{15CD0EB6-35D4-6B1F-A50B-073C19F73D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17689"/>
            <a:ext cx="1877164" cy="2537054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9" name="Immagine 8" descr="Immagine che contiene musica, microfono, concerto, persona&#10;&#10;Il contenuto generato dall'IA potrebbe non essere corretto.">
            <a:extLst>
              <a:ext uri="{FF2B5EF4-FFF2-40B4-BE49-F238E27FC236}">
                <a16:creationId xmlns:a16="http://schemas.microsoft.com/office/drawing/2014/main" id="{77530469-C5DC-B0B0-1479-AA375FAE94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2548" y="4215988"/>
            <a:ext cx="2402685" cy="1345503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11" name="Immagine 10" descr="Immagine che contiene arte, dipinto, ritratto, Viso umano&#10;&#10;Il contenuto generato dall'IA potrebbe non essere corretto.">
            <a:extLst>
              <a:ext uri="{FF2B5EF4-FFF2-40B4-BE49-F238E27FC236}">
                <a16:creationId xmlns:a16="http://schemas.microsoft.com/office/drawing/2014/main" id="{4015BBE3-0DA2-16EF-3E3D-8CA834A38A4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8984" y="1503710"/>
            <a:ext cx="2042130" cy="1143593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0EE0FE9-03F8-7AC5-FF5F-87934150F885}"/>
              </a:ext>
            </a:extLst>
          </p:cNvPr>
          <p:cNvSpPr txBox="1">
            <a:spLocks/>
          </p:cNvSpPr>
          <p:nvPr/>
        </p:nvSpPr>
        <p:spPr>
          <a:xfrm>
            <a:off x="6242547" y="5584597"/>
            <a:ext cx="2402685" cy="1143001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400"/>
              </a:spcAft>
              <a:buNone/>
              <a:defRPr sz="1900"/>
            </a:pPr>
            <a:r>
              <a:rPr lang="it-IT" sz="1600" dirty="0"/>
              <a:t>Tina Anselmi (1927–2016): partigiana e ministra, impegnata per diritti e democrazia.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07B2CA9F-163A-D881-806D-B577217F6048}"/>
              </a:ext>
            </a:extLst>
          </p:cNvPr>
          <p:cNvSpPr txBox="1">
            <a:spLocks/>
          </p:cNvSpPr>
          <p:nvPr/>
        </p:nvSpPr>
        <p:spPr>
          <a:xfrm>
            <a:off x="6644669" y="2647303"/>
            <a:ext cx="2042131" cy="1143000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925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400"/>
              </a:spcAft>
              <a:buNone/>
              <a:defRPr sz="1900"/>
            </a:pPr>
            <a:r>
              <a:rPr lang="it-IT" sz="1600" dirty="0"/>
              <a:t>Veronica Franco (1546–1591): poetessa del Rinascimento, famosa per i suoi scritti.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BDD8751-8BCE-FD91-DF01-5E706C886E39}"/>
              </a:ext>
            </a:extLst>
          </p:cNvPr>
          <p:cNvSpPr txBox="1">
            <a:spLocks/>
          </p:cNvSpPr>
          <p:nvPr/>
        </p:nvSpPr>
        <p:spPr>
          <a:xfrm>
            <a:off x="1911396" y="4304132"/>
            <a:ext cx="2199186" cy="2080736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400"/>
              </a:spcAft>
              <a:buNone/>
              <a:defRPr sz="1900"/>
            </a:pPr>
            <a:r>
              <a:rPr lang="it-IT" sz="1600" dirty="0"/>
              <a:t>Elena Cornaro </a:t>
            </a:r>
            <a:r>
              <a:rPr lang="it-IT" sz="1600" dirty="0" err="1"/>
              <a:t>Piscopia</a:t>
            </a:r>
            <a:r>
              <a:rPr lang="it-IT" sz="1600" dirty="0"/>
              <a:t> (1646–1684): prima donna laureata al mondo, studiò e insegnò a Padova.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44071"/>
          </a:xfrm>
        </p:spPr>
        <p:txBody>
          <a:bodyPr>
            <a:normAutofit/>
          </a:bodyPr>
          <a:lstStyle/>
          <a:p>
            <a:r>
              <a:rPr sz="2800" dirty="0" err="1"/>
              <a:t>Prodotti</a:t>
            </a:r>
            <a:r>
              <a:rPr lang="it-IT" sz="2800" dirty="0"/>
              <a:t> e piatti</a:t>
            </a:r>
            <a:r>
              <a:rPr sz="2800" dirty="0"/>
              <a:t> </a:t>
            </a:r>
            <a:r>
              <a:rPr sz="2800" dirty="0" err="1"/>
              <a:t>tipici</a:t>
            </a:r>
            <a:endParaRPr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59625" y="5780277"/>
            <a:ext cx="2584663" cy="947636"/>
          </a:xfrm>
        </p:spPr>
        <p:txBody>
          <a:bodyPr wrap="square">
            <a:normAutofit/>
          </a:bodyPr>
          <a:lstStyle/>
          <a:p>
            <a:pPr marL="0" indent="0">
              <a:buNone/>
            </a:pPr>
            <a:r>
              <a:rPr lang="it-IT" sz="1600" dirty="0"/>
              <a:t>Tiramisù: mascarpone, uova, zucchero, caffè e savoiardi; dolce famoso nato a Treviso</a:t>
            </a:r>
          </a:p>
          <a:p>
            <a:pPr>
              <a:spcAft>
                <a:spcPts val="400"/>
              </a:spcAft>
              <a:defRPr sz="1900"/>
            </a:pPr>
            <a:endParaRPr sz="1600" dirty="0"/>
          </a:p>
        </p:txBody>
      </p:sp>
      <p:pic>
        <p:nvPicPr>
          <p:cNvPr id="5" name="Immagine 4" descr="Immagine che contiene cibo, piatto, Cucina, ricetta&#10;&#10;Il contenuto generato dall'IA potrebbe non essere corretto.">
            <a:extLst>
              <a:ext uri="{FF2B5EF4-FFF2-40B4-BE49-F238E27FC236}">
                <a16:creationId xmlns:a16="http://schemas.microsoft.com/office/drawing/2014/main" id="{3982AA2C-97D9-2578-E8E0-82ADC3DEE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36" y="2598389"/>
            <a:ext cx="2206668" cy="1468437"/>
          </a:xfrm>
          <a:prstGeom prst="rect">
            <a:avLst/>
          </a:prstGeom>
          <a:effectLst>
            <a:softEdge rad="76200"/>
          </a:effectLst>
        </p:spPr>
      </p:pic>
      <p:pic>
        <p:nvPicPr>
          <p:cNvPr id="7" name="Immagine 6" descr="Immagine che contiene bevanda, cibo, alcol, Bottiglia di vetro&#10;&#10;Il contenuto generato dall'IA potrebbe non essere corretto.">
            <a:extLst>
              <a:ext uri="{FF2B5EF4-FFF2-40B4-BE49-F238E27FC236}">
                <a16:creationId xmlns:a16="http://schemas.microsoft.com/office/drawing/2014/main" id="{9B4E452F-BEE3-1045-3DF0-067953A006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200" y="1128857"/>
            <a:ext cx="1368425" cy="1368425"/>
          </a:xfrm>
          <a:prstGeom prst="rect">
            <a:avLst/>
          </a:prstGeom>
          <a:effectLst>
            <a:softEdge rad="76200"/>
          </a:effectLst>
        </p:spPr>
      </p:pic>
      <p:pic>
        <p:nvPicPr>
          <p:cNvPr id="9" name="Immagine 8" descr="Immagine che contiene Cucina, spaghetto, cibo, Noodle cinesi&#10;&#10;Il contenuto generato dall'IA potrebbe non essere corretto.">
            <a:extLst>
              <a:ext uri="{FF2B5EF4-FFF2-40B4-BE49-F238E27FC236}">
                <a16:creationId xmlns:a16="http://schemas.microsoft.com/office/drawing/2014/main" id="{2C2572B7-3F30-3A2D-AF3D-8313AB1BAD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066" y="4193039"/>
            <a:ext cx="2206668" cy="1239867"/>
          </a:xfrm>
          <a:prstGeom prst="rect">
            <a:avLst/>
          </a:prstGeom>
          <a:effectLst>
            <a:softEdge rad="76200"/>
          </a:effectLst>
        </p:spPr>
      </p:pic>
      <p:pic>
        <p:nvPicPr>
          <p:cNvPr id="11" name="Immagine 10" descr="Immagine che contiene cibo, Fast food, Cucina, Spuntino&#10;&#10;Il contenuto generato dall'IA potrebbe non essere corretto.">
            <a:extLst>
              <a:ext uri="{FF2B5EF4-FFF2-40B4-BE49-F238E27FC236}">
                <a16:creationId xmlns:a16="http://schemas.microsoft.com/office/drawing/2014/main" id="{708DFDD7-77E6-BF1C-7C5B-46B1CFA62C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89631" y="2832662"/>
            <a:ext cx="2282122" cy="1141061"/>
          </a:xfrm>
          <a:prstGeom prst="rect">
            <a:avLst/>
          </a:prstGeom>
          <a:effectLst>
            <a:softEdge rad="76200"/>
          </a:effectLst>
        </p:spPr>
      </p:pic>
      <p:pic>
        <p:nvPicPr>
          <p:cNvPr id="13" name="Immagine 12" descr="Immagine che contiene Bottiglia di vetro, bevanda, bevanda alcolica, vino&#10;&#10;Il contenuto generato dall'IA potrebbe non essere corretto.">
            <a:extLst>
              <a:ext uri="{FF2B5EF4-FFF2-40B4-BE49-F238E27FC236}">
                <a16:creationId xmlns:a16="http://schemas.microsoft.com/office/drawing/2014/main" id="{223BEC1B-6D03-D6FA-2ECD-9C4327DB4C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90425" y="1128858"/>
            <a:ext cx="1298081" cy="1593656"/>
          </a:xfrm>
          <a:prstGeom prst="rect">
            <a:avLst/>
          </a:prstGeom>
          <a:effectLst>
            <a:softEdge rad="76200"/>
          </a:effectLst>
        </p:spPr>
      </p:pic>
      <p:pic>
        <p:nvPicPr>
          <p:cNvPr id="15" name="Immagine 14" descr="Immagine che contiene verdura, radicchio, testo, cibo&#10;&#10;Il contenuto generato dall'IA potrebbe non essere corretto.">
            <a:extLst>
              <a:ext uri="{FF2B5EF4-FFF2-40B4-BE49-F238E27FC236}">
                <a16:creationId xmlns:a16="http://schemas.microsoft.com/office/drawing/2014/main" id="{178245C1-CD99-9553-F068-E6A77AA53E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797" y="5526582"/>
            <a:ext cx="2071827" cy="1378707"/>
          </a:xfrm>
          <a:prstGeom prst="rect">
            <a:avLst/>
          </a:prstGeom>
          <a:effectLst>
            <a:softEdge rad="76200"/>
          </a:effectLst>
        </p:spPr>
      </p:pic>
      <p:pic>
        <p:nvPicPr>
          <p:cNvPr id="17" name="Immagine 16" descr="Immagine che contiene piatto, cibo, Cucina, verdura&#10;&#10;Il contenuto generato dall'IA potrebbe non essere corretto.">
            <a:extLst>
              <a:ext uri="{FF2B5EF4-FFF2-40B4-BE49-F238E27FC236}">
                <a16:creationId xmlns:a16="http://schemas.microsoft.com/office/drawing/2014/main" id="{418DBC2D-EAEE-8820-2476-3AD745F56D0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22499" y="4239884"/>
            <a:ext cx="2282999" cy="1274232"/>
          </a:xfrm>
          <a:prstGeom prst="rect">
            <a:avLst/>
          </a:prstGeom>
          <a:effectLst>
            <a:softEdge rad="76200"/>
          </a:effectLst>
        </p:spPr>
      </p:pic>
      <p:pic>
        <p:nvPicPr>
          <p:cNvPr id="19" name="Immagine 18" descr="Immagine che contiene cibo, dessert, prodotti da forno, Spuntino&#10;&#10;Il contenuto generato dall'IA potrebbe non essere corretto.">
            <a:extLst>
              <a:ext uri="{FF2B5EF4-FFF2-40B4-BE49-F238E27FC236}">
                <a16:creationId xmlns:a16="http://schemas.microsoft.com/office/drawing/2014/main" id="{94368F6D-36FF-91D6-F478-D5E3300577F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6589" y="5496017"/>
            <a:ext cx="1530136" cy="1362979"/>
          </a:xfrm>
          <a:prstGeom prst="rect">
            <a:avLst/>
          </a:prstGeom>
          <a:effectLst>
            <a:softEdge rad="76200"/>
          </a:effectLst>
        </p:spPr>
      </p:pic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1AC91A6E-7C7D-394A-F25F-21F230AEFFFD}"/>
              </a:ext>
            </a:extLst>
          </p:cNvPr>
          <p:cNvSpPr txBox="1">
            <a:spLocks/>
          </p:cNvSpPr>
          <p:nvPr/>
        </p:nvSpPr>
        <p:spPr>
          <a:xfrm>
            <a:off x="2288656" y="4239884"/>
            <a:ext cx="1955966" cy="1193021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sz="1600" dirty="0"/>
              <a:t>Bigoli in salsa: pasta spessa con cipolle e acciughe, piatto tradizionale semplice ma gustoso</a:t>
            </a:r>
          </a:p>
          <a:p>
            <a:pPr>
              <a:spcAft>
                <a:spcPts val="400"/>
              </a:spcAft>
              <a:defRPr sz="1900"/>
            </a:pPr>
            <a:endParaRPr lang="it-IT" sz="1600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26909C3-A70C-BE02-64E4-5B61FCFDD550}"/>
              </a:ext>
            </a:extLst>
          </p:cNvPr>
          <p:cNvSpPr txBox="1">
            <a:spLocks/>
          </p:cNvSpPr>
          <p:nvPr/>
        </p:nvSpPr>
        <p:spPr>
          <a:xfrm>
            <a:off x="7171753" y="2905120"/>
            <a:ext cx="1862191" cy="1200452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sz="1600" dirty="0"/>
              <a:t>Polenta e sopressa: farina di mais per la polenta, accompagnata da salume tipico veneto</a:t>
            </a:r>
          </a:p>
          <a:p>
            <a:pPr marL="0" indent="0">
              <a:buNone/>
            </a:pPr>
            <a:endParaRPr lang="it-IT" sz="1600" dirty="0"/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5B6A1E57-724E-DF69-EEE7-6E8DA88E10A1}"/>
              </a:ext>
            </a:extLst>
          </p:cNvPr>
          <p:cNvSpPr txBox="1">
            <a:spLocks/>
          </p:cNvSpPr>
          <p:nvPr/>
        </p:nvSpPr>
        <p:spPr>
          <a:xfrm>
            <a:off x="2287383" y="5788045"/>
            <a:ext cx="2206668" cy="93209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400"/>
              </a:spcAft>
              <a:buNone/>
              <a:defRPr sz="1900"/>
            </a:pPr>
            <a:r>
              <a:rPr lang="it-IT" sz="1600" dirty="0"/>
              <a:t>Radicchio: ortaggio tipico usato in risotti, paste e contorni.</a:t>
            </a:r>
          </a:p>
          <a:p>
            <a:pPr>
              <a:spcAft>
                <a:spcPts val="400"/>
              </a:spcAft>
              <a:defRPr sz="1900"/>
            </a:pPr>
            <a:endParaRPr lang="it-IT" sz="1600" dirty="0"/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B643A54D-8CFB-B84C-F24A-5E634DF1A567}"/>
              </a:ext>
            </a:extLst>
          </p:cNvPr>
          <p:cNvSpPr txBox="1">
            <a:spLocks/>
          </p:cNvSpPr>
          <p:nvPr/>
        </p:nvSpPr>
        <p:spPr>
          <a:xfrm>
            <a:off x="2271304" y="2752529"/>
            <a:ext cx="2119874" cy="104367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925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it-IT" sz="1600" dirty="0"/>
              <a:t>Baccalà alla vicentina: stoccafisso, latte, cipolle, olio e acciughe; cotto lentamente per ore</a:t>
            </a:r>
          </a:p>
        </p:txBody>
      </p:sp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D1EFFB0D-4A85-77C9-BF1A-CE3B46B17C16}"/>
              </a:ext>
            </a:extLst>
          </p:cNvPr>
          <p:cNvSpPr txBox="1">
            <a:spLocks/>
          </p:cNvSpPr>
          <p:nvPr/>
        </p:nvSpPr>
        <p:spPr>
          <a:xfrm>
            <a:off x="6905498" y="4224398"/>
            <a:ext cx="2186369" cy="1385919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400"/>
              </a:spcAft>
              <a:buNone/>
              <a:defRPr sz="1700"/>
            </a:pPr>
            <a:r>
              <a:rPr lang="it-IT" sz="1600" dirty="0"/>
              <a:t>Risotto al radicchio: riso, radicchio rosso, cipolla, brodo e parmigiano; gusto leggermente amaro</a:t>
            </a:r>
          </a:p>
          <a:p>
            <a:pPr marL="0" indent="0">
              <a:spcAft>
                <a:spcPts val="400"/>
              </a:spcAft>
              <a:buNone/>
              <a:defRPr sz="1900"/>
            </a:pPr>
            <a:endParaRPr lang="it-IT" sz="1600" dirty="0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182DE47A-FDAF-14D0-C0DF-13A31FE25B77}"/>
              </a:ext>
            </a:extLst>
          </p:cNvPr>
          <p:cNvSpPr txBox="1">
            <a:spLocks/>
          </p:cNvSpPr>
          <p:nvPr/>
        </p:nvSpPr>
        <p:spPr>
          <a:xfrm>
            <a:off x="1575625" y="1357390"/>
            <a:ext cx="2996375" cy="678166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400"/>
              </a:spcAft>
              <a:buNone/>
              <a:defRPr sz="1900"/>
            </a:pPr>
            <a:r>
              <a:rPr lang="it-IT" sz="1600" dirty="0"/>
              <a:t>Amarone: vino rosso veronese dal gusto intenso e corposo.</a:t>
            </a:r>
          </a:p>
          <a:p>
            <a:pPr>
              <a:spcAft>
                <a:spcPts val="400"/>
              </a:spcAft>
              <a:defRPr sz="1900"/>
            </a:pPr>
            <a:endParaRPr lang="it-IT" sz="1600" dirty="0"/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E905CD53-C868-89CA-4960-E3FCFDACC654}"/>
              </a:ext>
            </a:extLst>
          </p:cNvPr>
          <p:cNvSpPr txBox="1">
            <a:spLocks/>
          </p:cNvSpPr>
          <p:nvPr/>
        </p:nvSpPr>
        <p:spPr>
          <a:xfrm>
            <a:off x="7024126" y="1558537"/>
            <a:ext cx="2119874" cy="814520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92500"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ts val="400"/>
              </a:spcAft>
              <a:buNone/>
              <a:defRPr sz="1900"/>
            </a:pPr>
            <a:r>
              <a:rPr lang="it-IT" sz="1600" dirty="0"/>
              <a:t>Prosecco: vino frizzante famoso delle colline trevigiane.</a:t>
            </a:r>
          </a:p>
          <a:p>
            <a:pPr>
              <a:spcAft>
                <a:spcPts val="400"/>
              </a:spcAft>
              <a:defRPr sz="1900"/>
            </a:pPr>
            <a:endParaRPr lang="it-IT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516</Words>
  <Application>Microsoft Office PowerPoint</Application>
  <PresentationFormat>Presentazione su schermo (4:3)</PresentationFormat>
  <Paragraphs>36</Paragraphs>
  <Slides>5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5</vt:i4>
      </vt:variant>
    </vt:vector>
  </HeadingPairs>
  <TitlesOfParts>
    <vt:vector size="10" baseType="lpstr">
      <vt:lpstr>Aptos</vt:lpstr>
      <vt:lpstr>Arial</vt:lpstr>
      <vt:lpstr>Calibri</vt:lpstr>
      <vt:lpstr>Google Sans</vt:lpstr>
      <vt:lpstr>Office Theme</vt:lpstr>
      <vt:lpstr>Il Veneto - Introduzione</vt:lpstr>
      <vt:lpstr>Città principali</vt:lpstr>
      <vt:lpstr>Turismo:  Monumenti e luoghi di interesse</vt:lpstr>
      <vt:lpstr>Donne da ricordare</vt:lpstr>
      <vt:lpstr>Prodotti e piatti tipici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Ale&amp;Chris</dc:creator>
  <cp:keywords/>
  <dc:description>generated using python-pptx</dc:description>
  <cp:lastModifiedBy>Ale&amp;Chris</cp:lastModifiedBy>
  <cp:revision>3</cp:revision>
  <dcterms:created xsi:type="dcterms:W3CDTF">2013-01-27T09:14:16Z</dcterms:created>
  <dcterms:modified xsi:type="dcterms:W3CDTF">2026-03-21T13:11:46Z</dcterms:modified>
  <cp:category/>
</cp:coreProperties>
</file>