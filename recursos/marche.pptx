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62" r:id="rId3"/>
    <p:sldId id="256" r:id="rId4"/>
    <p:sldId id="257" r:id="rId5"/>
    <p:sldId id="258" r:id="rId6"/>
    <p:sldId id="259" r:id="rId7"/>
    <p:sldId id="260" r:id="rId8"/>
    <p:sldId id="261" r:id="rId9"/>
  </p:sldIdLst>
  <p:sldSz cx="9144000" cy="5143500" type="screen16x9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20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rmAutofit/>
          </a:bodyPr>
          <a:lstStyle/>
          <a:p>
            <a:pPr algn="ctr"/>
            <a:r>
              <a:rPr lang="it-IT" sz="5200" b="0" strike="noStrike" spc="-1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BE00F76-3C4A-458C-A4FC-54592D629D7B}" type="slidenum">
              <a:rPr lang="it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‹N›</a:t>
            </a:fld>
            <a:endParaRPr lang="it-IT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rmAutofit fontScale="97000"/>
          </a:bodyPr>
          <a:lstStyle/>
          <a:p>
            <a:pPr algn="ctr"/>
            <a:r>
              <a:rPr lang="it-IT" sz="2800" b="0" strike="noStrike" spc="-1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rmAutofit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Secondo livello struttura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Terzo livello struttura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Quarto livello struttura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Quinto livello struttura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Sesto livello struttura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Settimo livello struttura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C2F73776-E19D-4ADB-AB0C-9A75C541003A}" type="slidenum">
              <a:rPr lang="it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‹N›</a:t>
            </a:fld>
            <a:endParaRPr lang="it-IT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3517200" y="469440"/>
            <a:ext cx="23209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2820" b="0" strike="noStrike" spc="-1">
                <a:solidFill>
                  <a:srgbClr val="000000"/>
                </a:solidFill>
                <a:latin typeface="Arial"/>
                <a:ea typeface="Arial"/>
              </a:rPr>
              <a:t>MARCHE</a:t>
            </a:r>
            <a:endParaRPr lang="it-IT" sz="2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123;p19"/>
          <p:cNvPicPr/>
          <p:nvPr/>
        </p:nvPicPr>
        <p:blipFill>
          <a:blip r:embed="rId2"/>
          <a:stretch/>
        </p:blipFill>
        <p:spPr>
          <a:xfrm>
            <a:off x="757800" y="2651400"/>
            <a:ext cx="2228400" cy="2047680"/>
          </a:xfrm>
          <a:prstGeom prst="rect">
            <a:avLst/>
          </a:prstGeom>
          <a:ln w="0">
            <a:noFill/>
          </a:ln>
        </p:spPr>
      </p:pic>
      <p:sp>
        <p:nvSpPr>
          <p:cNvPr id="124" name="CustomShape 3"/>
          <p:cNvSpPr/>
          <p:nvPr/>
        </p:nvSpPr>
        <p:spPr>
          <a:xfrm>
            <a:off x="757800" y="2128320"/>
            <a:ext cx="1827720" cy="51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2200" b="0" strike="noStrike" spc="-1">
                <a:solidFill>
                  <a:srgbClr val="595959"/>
                </a:solidFill>
                <a:latin typeface="Arial"/>
                <a:ea typeface="Arial"/>
              </a:rPr>
              <a:t>Capoluogo</a:t>
            </a:r>
            <a:endParaRPr lang="it-IT" sz="2200" b="0" strike="noStrike" spc="-1">
              <a:latin typeface="Arial"/>
            </a:endParaRPr>
          </a:p>
        </p:txBody>
      </p:sp>
      <p:pic>
        <p:nvPicPr>
          <p:cNvPr id="125" name="Google Shape;125;p19"/>
          <p:cNvPicPr/>
          <p:nvPr/>
        </p:nvPicPr>
        <p:blipFill>
          <a:blip r:embed="rId3"/>
          <a:stretch/>
        </p:blipFill>
        <p:spPr>
          <a:xfrm>
            <a:off x="6800760" y="2419920"/>
            <a:ext cx="1904760" cy="2400120"/>
          </a:xfrm>
          <a:prstGeom prst="rect">
            <a:avLst/>
          </a:prstGeom>
          <a:ln w="0">
            <a:noFill/>
          </a:ln>
        </p:spPr>
      </p:pic>
      <p:sp>
        <p:nvSpPr>
          <p:cNvPr id="126" name="CustomShape 4"/>
          <p:cNvSpPr/>
          <p:nvPr/>
        </p:nvSpPr>
        <p:spPr>
          <a:xfrm>
            <a:off x="2986920" y="3327840"/>
            <a:ext cx="13280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2100" b="0" strike="noStrike" spc="-1">
                <a:solidFill>
                  <a:srgbClr val="595959"/>
                </a:solidFill>
                <a:latin typeface="Arial"/>
                <a:ea typeface="Arial"/>
              </a:rPr>
              <a:t>Ancona</a:t>
            </a:r>
            <a:endParaRPr lang="it-IT" sz="2100" b="0" strike="noStrike" spc="-1">
              <a:latin typeface="Arial"/>
            </a:endParaRPr>
          </a:p>
        </p:txBody>
      </p:sp>
      <p:sp>
        <p:nvSpPr>
          <p:cNvPr id="127" name="CustomShape 5"/>
          <p:cNvSpPr/>
          <p:nvPr/>
        </p:nvSpPr>
        <p:spPr>
          <a:xfrm>
            <a:off x="6800760" y="1956600"/>
            <a:ext cx="2047320" cy="46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2200" b="0" strike="noStrike" spc="-1">
                <a:solidFill>
                  <a:srgbClr val="595959"/>
                </a:solidFill>
                <a:latin typeface="Arial"/>
                <a:ea typeface="Arial"/>
              </a:rPr>
              <a:t>Dove si trova?</a:t>
            </a:r>
            <a:endParaRPr lang="it-IT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  <p:sp>
        <p:nvSpPr>
          <p:cNvPr id="80" name="CustomShape 3"/>
          <p:cNvSpPr/>
          <p:nvPr/>
        </p:nvSpPr>
        <p:spPr>
          <a:xfrm>
            <a:off x="0" y="1140480"/>
            <a:ext cx="2999520" cy="39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 Mare e natura</a:t>
            </a:r>
            <a:endParaRPr lang="it-IT" sz="2300" b="0" strike="noStrike" spc="-1">
              <a:latin typeface="Arial"/>
            </a:endParaRPr>
          </a:p>
          <a:p>
            <a:pPr marL="457200" indent="-310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Riviera del Conero (Sirolo, Numana, Portonovo)</a:t>
            </a:r>
            <a:br/>
            <a:r>
              <a:rPr lang="it" sz="1300" b="0" strike="noStrike" spc="-1">
                <a:solidFill>
                  <a:srgbClr val="000000"/>
                </a:solidFill>
                <a:latin typeface="Arial"/>
                <a:ea typeface="Arial"/>
              </a:rPr>
              <a:t> Spiagge tra le più belle d’Italia, con acqua cristallina e scogliere bianche.</a:t>
            </a:r>
            <a:endParaRPr lang="it-IT" sz="1300" b="0" strike="noStrike" spc="-1"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Spiaggia di Mezzavalle (Ancona)</a:t>
            </a:r>
            <a:br/>
            <a:r>
              <a:rPr lang="it" sz="1300" b="0" strike="noStrike" spc="-1">
                <a:solidFill>
                  <a:srgbClr val="000000"/>
                </a:solidFill>
                <a:latin typeface="Arial"/>
                <a:ea typeface="Arial"/>
              </a:rPr>
              <a:t> Selvaggia e poco turistica, perfetta se vuoi natura pura.</a:t>
            </a:r>
            <a:endParaRPr lang="it-IT" sz="1300" b="0" strike="noStrike" spc="-1"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Parco Nazionale dei Monti Sibillini</a:t>
            </a:r>
            <a:br/>
            <a:r>
              <a:rPr lang="it" sz="1300" b="0" strike="noStrike" spc="-1">
                <a:solidFill>
                  <a:srgbClr val="000000"/>
                </a:solidFill>
                <a:latin typeface="Arial"/>
                <a:ea typeface="Arial"/>
              </a:rPr>
              <a:t> Montagne, trekking e panorami incredibili (famosa anche la fioritura di Castelluccio). </a:t>
            </a:r>
            <a:endParaRPr lang="it-IT" sz="1300" b="0" strike="noStrike" spc="-1">
              <a:latin typeface="Arial"/>
            </a:endParaRPr>
          </a:p>
        </p:txBody>
      </p:sp>
      <p:pic>
        <p:nvPicPr>
          <p:cNvPr id="81" name="Google Shape;57;p13"/>
          <p:cNvPicPr/>
          <p:nvPr/>
        </p:nvPicPr>
        <p:blipFill>
          <a:blip r:embed="rId2"/>
          <a:stretch/>
        </p:blipFill>
        <p:spPr>
          <a:xfrm>
            <a:off x="3666240" y="3756960"/>
            <a:ext cx="1811160" cy="123624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58;p13"/>
          <p:cNvPicPr/>
          <p:nvPr/>
        </p:nvPicPr>
        <p:blipFill>
          <a:blip r:embed="rId3"/>
          <a:stretch/>
        </p:blipFill>
        <p:spPr>
          <a:xfrm>
            <a:off x="6399360" y="2953080"/>
            <a:ext cx="1811160" cy="123624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59;p13"/>
          <p:cNvPicPr/>
          <p:nvPr/>
        </p:nvPicPr>
        <p:blipFill>
          <a:blip r:embed="rId4"/>
          <a:stretch/>
        </p:blipFill>
        <p:spPr>
          <a:xfrm>
            <a:off x="3872880" y="1659240"/>
            <a:ext cx="1757880" cy="1009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 fontScale="97000"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408600" y="3306600"/>
            <a:ext cx="2999520" cy="12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Trekking (da facili a impegnativi)</a:t>
            </a:r>
            <a:endParaRPr lang="it-IT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Escursioni in bici 🚴</a:t>
            </a:r>
            <a:endParaRPr lang="it-IT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Fotografia naturalistica 📸</a:t>
            </a:r>
            <a:endParaRPr lang="it-IT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Osservare animali selvatici (lupi, aquile 🦅)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311760" y="2735280"/>
            <a:ext cx="2081520" cy="92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Cose da fare</a:t>
            </a:r>
            <a:endParaRPr lang="it-IT" sz="2300" b="0" strike="noStrike" spc="-1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it-IT" sz="2300" b="0" strike="noStrike" spc="-1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230040" y="1236240"/>
            <a:ext cx="2999520" cy="150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Borghi da visitare</a:t>
            </a:r>
            <a:endParaRPr lang="it-IT" sz="2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1" strike="noStrike" spc="-1">
                <a:solidFill>
                  <a:srgbClr val="000000"/>
                </a:solidFill>
                <a:latin typeface="Arial"/>
                <a:ea typeface="Arial"/>
              </a:rPr>
              <a:t>Norcia</a:t>
            </a: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 → famosa per salumi e tradizione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1" strike="noStrike" spc="-1">
                <a:solidFill>
                  <a:srgbClr val="000000"/>
                </a:solidFill>
                <a:latin typeface="Arial"/>
                <a:ea typeface="Arial"/>
              </a:rPr>
              <a:t>Visso</a:t>
            </a: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 → cuore storico del parco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1" strike="noStrike" spc="-1">
                <a:solidFill>
                  <a:srgbClr val="000000"/>
                </a:solidFill>
                <a:latin typeface="Arial"/>
                <a:ea typeface="Arial"/>
              </a:rPr>
              <a:t>Ussita</a:t>
            </a: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 → ottima base per escursioni</a:t>
            </a:r>
            <a:endParaRPr lang="it-IT" sz="1100" b="0" strike="noStrike" spc="-1">
              <a:latin typeface="Arial"/>
            </a:endParaRPr>
          </a:p>
        </p:txBody>
      </p:sp>
      <p:pic>
        <p:nvPicPr>
          <p:cNvPr id="89" name="Google Shape;69;p14"/>
          <p:cNvPicPr/>
          <p:nvPr/>
        </p:nvPicPr>
        <p:blipFill>
          <a:blip r:embed="rId2"/>
          <a:stretch/>
        </p:blipFill>
        <p:spPr>
          <a:xfrm>
            <a:off x="4104360" y="3116520"/>
            <a:ext cx="2081520" cy="126180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70;p14"/>
          <p:cNvPicPr/>
          <p:nvPr/>
        </p:nvPicPr>
        <p:blipFill>
          <a:blip r:embed="rId3"/>
          <a:stretch/>
        </p:blipFill>
        <p:spPr>
          <a:xfrm>
            <a:off x="6473160" y="1627560"/>
            <a:ext cx="1878480" cy="1498680"/>
          </a:xfrm>
          <a:prstGeom prst="rect">
            <a:avLst/>
          </a:prstGeom>
          <a:ln w="0">
            <a:noFill/>
          </a:ln>
        </p:spPr>
      </p:pic>
      <p:pic>
        <p:nvPicPr>
          <p:cNvPr id="91" name="Google Shape;71;p14"/>
          <p:cNvPicPr/>
          <p:nvPr/>
        </p:nvPicPr>
        <p:blipFill>
          <a:blip r:embed="rId4"/>
          <a:stretch/>
        </p:blipFill>
        <p:spPr>
          <a:xfrm>
            <a:off x="4104360" y="1492560"/>
            <a:ext cx="1726920" cy="1149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 fontScale="97000"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178920" y="855720"/>
            <a:ext cx="2999520" cy="39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🍝 Primi piatti</a:t>
            </a:r>
            <a:endParaRPr lang="it-IT" sz="2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🥘 Vincisgrassi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Simili alle lasagne ma più ricchi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Con ragù, besciamella e spesso frattaglie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Piatto simbolo della regione</a:t>
            </a:r>
            <a:endParaRPr lang="it-IT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🥟 Cappelletti in brodo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Ripieni di carne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Tipici delle feste</a:t>
            </a:r>
            <a:endParaRPr lang="it-IT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🍝 Passatelli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Fatti con pangrattato, uova e parmigiano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Serviti in brodo </a:t>
            </a:r>
            <a:endParaRPr lang="it-IT" sz="1100" b="0" strike="noStrike" spc="-1">
              <a:latin typeface="Arial"/>
            </a:endParaRPr>
          </a:p>
        </p:txBody>
      </p:sp>
      <p:pic>
        <p:nvPicPr>
          <p:cNvPr id="95" name="Google Shape;79;p15"/>
          <p:cNvPicPr/>
          <p:nvPr/>
        </p:nvPicPr>
        <p:blipFill>
          <a:blip r:embed="rId2"/>
          <a:stretch/>
        </p:blipFill>
        <p:spPr>
          <a:xfrm>
            <a:off x="2910600" y="1371960"/>
            <a:ext cx="1456920" cy="96948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80;p15"/>
          <p:cNvPicPr/>
          <p:nvPr/>
        </p:nvPicPr>
        <p:blipFill>
          <a:blip r:embed="rId3"/>
          <a:stretch/>
        </p:blipFill>
        <p:spPr>
          <a:xfrm>
            <a:off x="2910600" y="2501640"/>
            <a:ext cx="1456920" cy="109116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81;p15"/>
          <p:cNvPicPr/>
          <p:nvPr/>
        </p:nvPicPr>
        <p:blipFill>
          <a:blip r:embed="rId4"/>
          <a:stretch/>
        </p:blipFill>
        <p:spPr>
          <a:xfrm>
            <a:off x="2846880" y="3753360"/>
            <a:ext cx="1456920" cy="116388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4"/>
          <p:cNvSpPr/>
          <p:nvPr/>
        </p:nvSpPr>
        <p:spPr>
          <a:xfrm>
            <a:off x="4470120" y="855720"/>
            <a:ext cx="2655720" cy="39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Secondi piatti</a:t>
            </a:r>
            <a:endParaRPr lang="it-IT" sz="2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🍢 Olive all’ascolana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Da </a:t>
            </a:r>
            <a:r>
              <a:rPr lang="it" sz="1100" b="1" strike="noStrike" spc="-1">
                <a:solidFill>
                  <a:srgbClr val="000000"/>
                </a:solidFill>
                <a:latin typeface="Arial"/>
                <a:ea typeface="Arial"/>
              </a:rPr>
              <a:t>Ascoli Piceno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Olive ripiene e fritte → irresistibili</a:t>
            </a:r>
            <a:endParaRPr lang="it-IT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🥓 Coniglio in porchetta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Aromatizzato con finocchietto selvatico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Super saporito</a:t>
            </a:r>
            <a:endParaRPr lang="it-IT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🐟 Brodetto di pesce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Tipico della costa (Ancona, San Benedetto ecc.)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Ogni città ha la sua versione </a:t>
            </a:r>
            <a:endParaRPr lang="it-IT" sz="1100" b="0" strike="noStrike" spc="-1">
              <a:latin typeface="Arial"/>
            </a:endParaRPr>
          </a:p>
        </p:txBody>
      </p:sp>
      <p:pic>
        <p:nvPicPr>
          <p:cNvPr id="99" name="Google Shape;83;p15"/>
          <p:cNvPicPr/>
          <p:nvPr/>
        </p:nvPicPr>
        <p:blipFill>
          <a:blip r:embed="rId5"/>
          <a:stretch/>
        </p:blipFill>
        <p:spPr>
          <a:xfrm>
            <a:off x="6786360" y="1311120"/>
            <a:ext cx="1639800" cy="109116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84;p15"/>
          <p:cNvPicPr/>
          <p:nvPr/>
        </p:nvPicPr>
        <p:blipFill>
          <a:blip r:embed="rId6"/>
          <a:stretch/>
        </p:blipFill>
        <p:spPr>
          <a:xfrm>
            <a:off x="6982920" y="2501640"/>
            <a:ext cx="1519920" cy="116388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85;p15"/>
          <p:cNvPicPr/>
          <p:nvPr/>
        </p:nvPicPr>
        <p:blipFill>
          <a:blip r:embed="rId7"/>
          <a:stretch/>
        </p:blipFill>
        <p:spPr>
          <a:xfrm>
            <a:off x="7126200" y="3850560"/>
            <a:ext cx="1731240" cy="969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 fontScale="97000"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5082840" y="680040"/>
            <a:ext cx="2999520" cy="17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🧀 Formaggi e prodotti tipici</a:t>
            </a:r>
            <a:endParaRPr lang="it-IT" sz="2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1" strike="noStrike" spc="-1">
                <a:solidFill>
                  <a:srgbClr val="000000"/>
                </a:solidFill>
                <a:latin typeface="Arial"/>
                <a:ea typeface="Arial"/>
              </a:rPr>
              <a:t>Casciotta d’Urbino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Pecorini locali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Lenticchie di Castelluccio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05" name="CustomShape 4"/>
          <p:cNvSpPr/>
          <p:nvPr/>
        </p:nvSpPr>
        <p:spPr>
          <a:xfrm>
            <a:off x="102240" y="1264320"/>
            <a:ext cx="2999520" cy="287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 Street food e piatti rustici</a:t>
            </a:r>
            <a:endParaRPr lang="it-IT" sz="2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🫓 Crescia sfogliata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Simile alla piadina ma più ricca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Perfetta con salumi e formaggi</a:t>
            </a:r>
            <a:endParaRPr lang="it-IT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🥙 Ciauscolo</a:t>
            </a:r>
            <a:endParaRPr lang="it-IT" sz="1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Morbido e saporito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Da mangiare sul pane caldo 🤤 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06" name="CustomShape 5"/>
          <p:cNvSpPr/>
          <p:nvPr/>
        </p:nvSpPr>
        <p:spPr>
          <a:xfrm>
            <a:off x="5146560" y="3754800"/>
            <a:ext cx="2999520" cy="131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tabLst>
                <a:tab pos="0" algn="l"/>
              </a:tabLst>
            </a:pPr>
            <a:r>
              <a:rPr lang="it" sz="2300" b="1" strike="noStrike" spc="-1">
                <a:solidFill>
                  <a:srgbClr val="000000"/>
                </a:solidFill>
                <a:latin typeface="Arial"/>
                <a:ea typeface="Arial"/>
              </a:rPr>
              <a:t> Vini tipici</a:t>
            </a:r>
            <a:endParaRPr lang="it-IT" sz="23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Verdicchio (bianco fresco)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Rosso Conero</a:t>
            </a:r>
            <a:endParaRPr lang="it-IT" sz="1100" b="0" strike="noStrike" spc="-1"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100" b="0" strike="noStrike" spc="-1">
                <a:solidFill>
                  <a:srgbClr val="000000"/>
                </a:solidFill>
                <a:latin typeface="Arial"/>
                <a:ea typeface="Arial"/>
              </a:rPr>
              <a:t>Lacrima di Morro d’Alba</a:t>
            </a:r>
            <a:endParaRPr lang="it-IT" sz="1100" b="0" strike="noStrike" spc="-1">
              <a:latin typeface="Arial"/>
            </a:endParaRPr>
          </a:p>
        </p:txBody>
      </p:sp>
      <p:pic>
        <p:nvPicPr>
          <p:cNvPr id="107" name="Google Shape;95;p16"/>
          <p:cNvPicPr/>
          <p:nvPr/>
        </p:nvPicPr>
        <p:blipFill>
          <a:blip r:embed="rId2"/>
          <a:stretch/>
        </p:blipFill>
        <p:spPr>
          <a:xfrm>
            <a:off x="2811600" y="3754800"/>
            <a:ext cx="1857240" cy="111816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96;p16"/>
          <p:cNvPicPr/>
          <p:nvPr/>
        </p:nvPicPr>
        <p:blipFill>
          <a:blip r:embed="rId3"/>
          <a:stretch/>
        </p:blipFill>
        <p:spPr>
          <a:xfrm>
            <a:off x="3341160" y="1515960"/>
            <a:ext cx="1077120" cy="161892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97;p16"/>
          <p:cNvPicPr/>
          <p:nvPr/>
        </p:nvPicPr>
        <p:blipFill>
          <a:blip r:embed="rId4"/>
          <a:stretch/>
        </p:blipFill>
        <p:spPr>
          <a:xfrm>
            <a:off x="7864560" y="1400400"/>
            <a:ext cx="1077120" cy="1077120"/>
          </a:xfrm>
          <a:prstGeom prst="rect">
            <a:avLst/>
          </a:prstGeom>
          <a:ln w="0">
            <a:noFill/>
          </a:ln>
        </p:spPr>
      </p:pic>
      <p:pic>
        <p:nvPicPr>
          <p:cNvPr id="110" name="Google Shape;98;p16"/>
          <p:cNvPicPr/>
          <p:nvPr/>
        </p:nvPicPr>
        <p:blipFill>
          <a:blip r:embed="rId5"/>
          <a:stretch/>
        </p:blipFill>
        <p:spPr>
          <a:xfrm>
            <a:off x="6249960" y="2477880"/>
            <a:ext cx="793440" cy="1322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 fontScale="97000"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2720160" y="357480"/>
            <a:ext cx="2999520" cy="97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🎭 Arte, cultura e letteratura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114" name="CustomShape 4"/>
          <p:cNvSpPr/>
          <p:nvPr/>
        </p:nvSpPr>
        <p:spPr>
          <a:xfrm>
            <a:off x="311760" y="1941120"/>
            <a:ext cx="2999520" cy="208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300" b="1" strike="noStrike" spc="-1">
                <a:solidFill>
                  <a:srgbClr val="000000"/>
                </a:solidFill>
                <a:latin typeface="Arial"/>
                <a:ea typeface="Arial"/>
              </a:rPr>
              <a:t>🎨 </a:t>
            </a:r>
            <a:r>
              <a:rPr lang="it" sz="1600" b="1" strike="noStrike" spc="-1">
                <a:solidFill>
                  <a:srgbClr val="000000"/>
                </a:solidFill>
                <a:latin typeface="Arial"/>
                <a:ea typeface="Arial"/>
              </a:rPr>
              <a:t>Gentileschi Artemisia</a:t>
            </a:r>
            <a:endParaRPr lang="it-IT" sz="1600" b="0" strike="noStrike" spc="-1">
              <a:latin typeface="Arial"/>
            </a:endParaRPr>
          </a:p>
          <a:p>
            <a:pPr marL="457200" indent="-31716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Nata a </a:t>
            </a:r>
            <a:r>
              <a:rPr lang="it" sz="1400" b="1" strike="noStrike" spc="-1">
                <a:solidFill>
                  <a:srgbClr val="000000"/>
                </a:solidFill>
                <a:latin typeface="Arial"/>
                <a:ea typeface="Arial"/>
              </a:rPr>
              <a:t>Roma</a:t>
            </a: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, ma con legami con le Marche</a:t>
            </a:r>
            <a:endParaRPr lang="it-IT" sz="1400" b="0" strike="noStrike" spc="-1">
              <a:latin typeface="Arial"/>
            </a:endParaRPr>
          </a:p>
          <a:p>
            <a:pPr marL="457200" indent="-31716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Una delle più grandi pittrici del Seicento</a:t>
            </a:r>
            <a:endParaRPr lang="it-IT" sz="1400" b="0" strike="noStrike" spc="-1">
              <a:latin typeface="Arial"/>
            </a:endParaRPr>
          </a:p>
          <a:p>
            <a:pPr marL="457200" indent="-31716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Simbolo di forza femminile nell’arte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5" name="CustomShape 5"/>
          <p:cNvSpPr/>
          <p:nvPr/>
        </p:nvSpPr>
        <p:spPr>
          <a:xfrm>
            <a:off x="5006160" y="1941120"/>
            <a:ext cx="2999520" cy="15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it" sz="1600" b="1" strike="noStrike" spc="-1">
                <a:solidFill>
                  <a:srgbClr val="000000"/>
                </a:solidFill>
                <a:latin typeface="Arial"/>
                <a:ea typeface="Arial"/>
              </a:rPr>
              <a:t>✍️ Maria Montessori</a:t>
            </a:r>
            <a:endParaRPr lang="it-IT" sz="1600" b="0" strike="noStrike" spc="-1">
              <a:latin typeface="Arial"/>
            </a:endParaRPr>
          </a:p>
          <a:p>
            <a:pPr marL="457200" indent="-31716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Nata a </a:t>
            </a:r>
            <a:r>
              <a:rPr lang="it" sz="1400" b="1" strike="noStrike" spc="-1">
                <a:solidFill>
                  <a:srgbClr val="000000"/>
                </a:solidFill>
                <a:latin typeface="Arial"/>
                <a:ea typeface="Arial"/>
              </a:rPr>
              <a:t>Chiaravalle</a:t>
            </a:r>
            <a:endParaRPr lang="it-IT" sz="1400" b="0" strike="noStrike" spc="-1">
              <a:latin typeface="Arial"/>
            </a:endParaRPr>
          </a:p>
          <a:p>
            <a:pPr marL="457200" indent="-31716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" sz="1400" b="0" strike="noStrike" spc="-1">
                <a:solidFill>
                  <a:srgbClr val="000000"/>
                </a:solidFill>
                <a:latin typeface="Arial"/>
                <a:ea typeface="Arial"/>
              </a:rPr>
              <a:t>Ha rivoluzionato l’educazione con il metodo Montessori (ancora usato nel mondo) </a:t>
            </a:r>
            <a:endParaRPr lang="it-I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 fontScale="97000"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651240" y="1779480"/>
            <a:ext cx="2999520" cy="21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it" sz="1500" b="1" strike="noStrike" spc="-1">
                <a:solidFill>
                  <a:srgbClr val="000000"/>
                </a:solidFill>
                <a:latin typeface="Arial"/>
                <a:ea typeface="Arial"/>
              </a:rPr>
              <a:t>Ilaria Capua</a:t>
            </a:r>
            <a:br/>
            <a:r>
              <a:rPr lang="it" sz="1500" b="0" strike="noStrike" spc="-1">
                <a:solidFill>
                  <a:srgbClr val="000000"/>
                </a:solidFill>
                <a:latin typeface="Arial"/>
                <a:ea typeface="Arial"/>
              </a:rPr>
              <a:t> Originaria delle Marche (Città di Castello è in Umbria ma ha legami con la regione), nota per il suo lavoro sui virus influenzali e per l’impegno pubblico.</a:t>
            </a:r>
            <a:endParaRPr lang="it-IT" sz="1500" b="0" strike="noStrike" spc="-1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it" sz="1500" b="0" strike="noStrike" spc="-1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2285280" y="767520"/>
            <a:ext cx="2999520" cy="56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it" sz="2200" b="1" strike="noStrike" spc="-1">
                <a:solidFill>
                  <a:srgbClr val="000000"/>
                </a:solidFill>
                <a:latin typeface="Arial"/>
                <a:ea typeface="Arial"/>
              </a:rPr>
              <a:t>🏛️ Politica e società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5285160" y="1965600"/>
            <a:ext cx="2999520" cy="123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>
            <a:spAutoFit/>
          </a:bodyPr>
          <a:lstStyle/>
          <a:p>
            <a:pPr marL="457200" indent="-3236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it" sz="1500" b="1" strike="noStrike" spc="-1">
                <a:solidFill>
                  <a:srgbClr val="000000"/>
                </a:solidFill>
                <a:latin typeface="Arial"/>
                <a:ea typeface="Arial"/>
              </a:rPr>
              <a:t>Valeria Mancinelli</a:t>
            </a:r>
            <a:br/>
            <a:r>
              <a:rPr lang="it" sz="1500" b="0" strike="noStrike" spc="-1">
                <a:solidFill>
                  <a:srgbClr val="000000"/>
                </a:solidFill>
                <a:latin typeface="Arial"/>
                <a:ea typeface="Arial"/>
              </a:rPr>
              <a:t> Sindaca di Ancona per due mandati, figura importante della politica locale. </a:t>
            </a:r>
            <a:endParaRPr lang="it-IT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376</Words>
  <Application>Microsoft Macintosh PowerPoint</Application>
  <PresentationFormat>Presentazione su schermo (16:9)</PresentationFormat>
  <Paragraphs>65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Symbol</vt:lpstr>
      <vt:lpstr>Times New Roman</vt:lpstr>
      <vt:lpstr>Wingdings</vt:lpstr>
      <vt:lpstr>Office Theme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Utente di Microsoft Office</cp:lastModifiedBy>
  <cp:revision>1</cp:revision>
  <dcterms:modified xsi:type="dcterms:W3CDTF">2026-05-27T08:47:35Z</dcterms:modified>
  <dc:language>it-IT</dc:language>
</cp:coreProperties>
</file>